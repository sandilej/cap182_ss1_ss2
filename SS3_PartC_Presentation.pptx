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S1" id="{6761d155-2d1b-60df-91de-0686fc529d7b}">
          <p14:sldIdLst>
            <p14:sldId id="257"/>
            <p14:sldId id="258"/>
            <p14:sldId id="259"/>
          </p14:sldIdLst>
        </p14:section>
        <p14:section name="SS2" id="{b729b604-a54e-1209-981d-3f9e16177a06}">
          <p14:sldIdLst>
            <p14:sldId id="260"/>
            <p14:sldId id="261"/>
            <p14:sldId id="262"/>
          </p14:sldIdLst>
        </p14:section>
        <p14:section name="SS3" id="{8334ad6c-c484-19a8-d059-fcba364322fd}">
          <p14:sldIdLst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Default-1" id="{6b560f18-626b-c318-0602-f99f36f27fbc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1A1033"/>
                </a:solidFill>
                <a:latin typeface="+mn-lt"/>
              </a:defRPr>
            </a:pPr>
            <a:r>
              <a:rPr sz="1800" b="0" i="0" u="none" strike="noStrike">
                <a:solidFill>
                  <a:srgbClr val="1A1033"/>
                </a:solidFill>
                <a:latin typeface="+mn-lt"/>
              </a:rPr>
              <a:t>Test set ROC-AUC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00B39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A10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SS2: Telco proxy data</c:v>
                  </c:pt>
                  <c:pt idx="1">
                    <c:v>SS3: Real STADIOchoice data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0.844</c:v>
                </c:pt>
                <c:pt idx="1">
                  <c:v>0.95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600" u="none">
                  <a:solidFill>
                    <a:srgbClr val="1A10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0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12700" cap="flat">
              <a:solidFill>
                <a:srgbClr val="F2EDF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03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3D247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862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3D247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83464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69080"/>
            <a:ext cx="9601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EXHIBI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Predicting Streaming Churn at STADIOchoice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862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CAP182 Capstone, SS1 through SS3  |  Sandile Jali, 26304684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83464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One: The Business Problem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69080"/>
            <a:ext cx="96012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STADIOchoice needs to see churn coming before it happens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churn problem the company already knows it has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474720" cy="2377440"/>
          </a:xfrm>
          <a:prstGeom prst="roundRect">
            <a:avLst>
              <a:gd name="adj" fmla="val 4615"/>
            </a:avLst>
          </a:prstGeom>
          <a:solidFill>
            <a:srgbClr val="F2EDF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719072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5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6.5% → 9.2%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24612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monthly churn, in two years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43400" y="1554480"/>
            <a:ext cx="3474720" cy="2377440"/>
          </a:xfrm>
          <a:prstGeom prst="roundRect">
            <a:avLst>
              <a:gd name="adj" fmla="val 4615"/>
            </a:avLst>
          </a:prstGeom>
          <a:solidFill>
            <a:srgbClr val="F2ED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343400" y="1719072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5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R240 → R355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80560" y="324612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to acquire one streaming subscriber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0" y="1554480"/>
            <a:ext cx="3474720" cy="2377440"/>
          </a:xfrm>
          <a:prstGeom prst="roundRect">
            <a:avLst>
              <a:gd name="adj" fmla="val 4615"/>
            </a:avLst>
          </a:prstGeom>
          <a:solidFill>
            <a:srgbClr val="F2EDF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138160" y="1719072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B3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~R0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324612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Targeting on current retention offers, sent to almost anyone who clicks cancel</a:t>
            </a:r>
            <a:endParaRPr lang="en-US" sz="1300" dirty="0"/>
          </a:p>
        </p:txBody>
      </p:sp>
      <p:sp>
        <p:nvSpPr>
          <p:cNvPr id="12" name="Text 0"/>
          <p:cNvSpPr/>
          <p:nvPr>
            <p:ph idx="101" type="body" hasCustomPrompt="1"/>
          </p:nvPr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offers go out indiscriminately today, wasting spend on subscribers who would have stayed, while households who quietly drift away without ever clicking cancel are missed entirely.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sits directly against STADIOchoice's own 2030 strategy: “win the streaming war on retention, not just sign-ups.”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Framing it as a data science problem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statement: predict, per household, the probability of cancelling STADIOstream in the near term, using only information available before that decision.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Framed as supervised classification: behavioural, billing, and support signals as predictors; historical cancellation outcomes as labels.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six data tables from the client: subscription and billing, viewing logs, cancellation and retention, customer support, content catalogue, and search queries.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a ranked, actionable list of at-risk households the retention team can actually use, not just a model for its own sake.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83464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Two: Proving the Approach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69080"/>
            <a:ext cx="96012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STADIOchoice's real data wasn't ready yet, so the method was proven on a public benchmark first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proof of viability, grounded in real literature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Telco Customer Churn (IBM, via Kaggle), 7,043 customers, the same dataset used by two of the three academic papers reviewed, so results stay comparable to published benchmarks.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models compared head to head: Logistic Regression as an interpretable baseline, XGBoost as a gradient-boosted ensemble.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train and test split, same metrics, for both models, so the comparison is fair.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XGBoost wins, and it's not close</a:t>
            </a:r>
            <a:endParaRPr lang="en-US" sz="3000" dirty="0"/>
          </a:p>
        </p:txBody>
      </p:sp>
      <p:pic>
        <p:nvPicPr>
          <p:cNvPr id="3" name="Image 0" descr="../../../../../Desktop/CAP182_SS1/experimental_results/roc_curve_comparis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3040" y="1508760"/>
            <a:ext cx="6035040" cy="45262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0" y="1737360"/>
            <a:ext cx="38404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Accuracy: 0.753 vs 0.734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ROC-AUC: 0.844 vs 0.842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FF5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McNemar's exact test: p = 0.0108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i="1" dirty="0">
                <a:solidFill>
                  <a:srgbClr val="1A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difference is statistically significant, not just a small numeric edge.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A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is the method carried forward into SS3.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83464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Three: The Real Data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69080"/>
            <a:ext cx="96012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the same method to STADIOchoice's own 4,485 households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operational data, real mess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2606040" cy="2286000"/>
          </a:xfrm>
          <a:prstGeom prst="roundRect">
            <a:avLst>
              <a:gd name="adj" fmla="val 4800"/>
            </a:avLst>
          </a:prstGeom>
          <a:solidFill>
            <a:srgbClr val="F2EDF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764792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B3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20040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duplicate household rows, dropped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83280" y="1600200"/>
            <a:ext cx="2606040" cy="2286000"/>
          </a:xfrm>
          <a:prstGeom prst="roundRect">
            <a:avLst>
              <a:gd name="adj" fmla="val 4800"/>
            </a:avLst>
          </a:prstGeom>
          <a:solidFill>
            <a:srgbClr val="F2ED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383280" y="1764792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B3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320040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spellings of one plan tier, collapsed to 3 clean categories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600200"/>
            <a:ext cx="2606040" cy="2286000"/>
          </a:xfrm>
          <a:prstGeom prst="roundRect">
            <a:avLst>
              <a:gd name="adj" fmla="val 4800"/>
            </a:avLst>
          </a:prstGeom>
          <a:solidFill>
            <a:srgbClr val="F2EDF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0" y="1764792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5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465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320040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viewing-log timestamps in mixed date formats, parsed with a cascading, format-aware parser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052560" y="1600200"/>
            <a:ext cx="2606040" cy="2286000"/>
          </a:xfrm>
          <a:prstGeom prst="roundRect">
            <a:avLst>
              <a:gd name="adj" fmla="val 4800"/>
            </a:avLst>
          </a:prstGeom>
          <a:solidFill>
            <a:srgbClr val="F2EDF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052560" y="1764792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B3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9189720" y="320040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timestamped after the extract date, physically impossible, found and dropped</a:t>
            </a:r>
            <a:endParaRPr lang="en-US" sz="1300" dirty="0"/>
          </a:p>
        </p:txBody>
      </p:sp>
      <p:sp>
        <p:nvSpPr>
          <p:cNvPr id="15" name="Text 0"/>
          <p:cNvSpPr/>
          <p:nvPr>
            <p:ph idx="101" type="body" hasCustomPrompt="1"/>
          </p:nvPr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above was found by profiling the data directly, not assumed from the client's warning that it would be messy, then fixed with a documented reason for each step.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honest features, not leaky ones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 on purpose: </a:t>
            </a:r>
            <a:pPr algn="l"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churn_date, tenure_months, and the entire cancellation table all describe events that happen after a household has already decided to leave. Using them would teach the model to recognise its own label, not to predict anything.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instead, from real behaviour:</a:t>
            </a:r>
            <a:endParaRPr lang="en-US" sz="16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 recency, watch time, and sports-content exposure (a named churn trigger in the client's own briefing)</a:t>
            </a:r>
            <a:endParaRPr lang="en-US" sz="16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contact volume and unresolved/escalated outcomes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activity and zero-result rate, the client's own documented signal for unmet demand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that holds up on real households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set: accuracy 0.858, recall 0.906, ROC-AUC 0.950. The single biggest predictor is days since a household's last viewing activity, exactly the kind of signal a retention team can act on and explain.</a:t>
            </a:r>
            <a:endParaRPr lang="en-US" sz="1500" dirty="0"/>
          </a:p>
        </p:txBody>
      </p:sp>
      <p:pic>
        <p:nvPicPr>
          <p:cNvPr id="4" name="Image 0" descr="../../../../../Desktop/CAP182_SS1/experimental_results/ss3_part_b_resul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828800"/>
            <a:ext cx="1106424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behavioural data beats the proxy benchmark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1645920" y="1554480"/>
          <a:ext cx="88696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STADIOchoice should do next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before full rollout: run the model against a held-out group of households and track real retention outcomes, not just predicted risk.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the risk threshold to actual review capacity, the model produces a ranked list, the business decides how far down that list to act.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feature importance for explainability: give the retention team a reason alongside every flagged household, not just a score.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Re-train on a rolling basis as behaviour and offers change, a model trained once will drift.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Being honest about the limits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real train/test gap (precision drops from 0.70 to 0.58), a sign of some overfitting on a 26-feature model trained on ~3,100 households, worth monitoring, not hidden.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extract is a single historical snapshot; a live system needs to be validated against genuinely new, unseen time periods.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Hyperparameters were kept aligned with SS2 for comparability, a dedicated tuning pass on this data specifically is the next step, not yet done.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862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Sandile Jali  |  26304684  |  CAP182 Capstone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ADIOchoice Churn">
  <a:themeElements>
    <a:clrScheme name="STADIOchoice Churn">
      <a:dk1>
        <a:srgbClr val="1A1033"/>
      </a:dk1>
      <a:lt1>
        <a:srgbClr val="FFFFFF"/>
      </a:lt1>
      <a:dk2>
        <a:srgbClr val="3D2470"/>
      </a:dk2>
      <a:lt2>
        <a:srgbClr val="F2EDFA"/>
      </a:lt2>
      <a:accent1>
        <a:srgbClr val="FF5A5F"/>
      </a:accent1>
      <a:accent2>
        <a:srgbClr val="00B39B"/>
      </a:accent2>
      <a:accent3>
        <a:srgbClr val="3D2470"/>
      </a:accent3>
      <a:accent4>
        <a:srgbClr val="FF5A5F"/>
      </a:accent4>
      <a:accent5>
        <a:srgbClr val="00B39B"/>
      </a:accent5>
      <a:accent6>
        <a:srgbClr val="1A1033"/>
      </a:accent6>
      <a:hlink>
        <a:srgbClr val="FF5A5F"/>
      </a:hlink>
      <a:folHlink>
        <a:srgbClr val="00B39B"/>
      </a:folHlink>
    </a:clrScheme>
    <a:fontScheme name="STADIOchoice Chur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2026-10-19T07:19:32Z</dcterms:created>
  <dcterms:modified xsi:type="dcterms:W3CDTF">2026-10-19T07:19:32Z</dcterms:modified>
</cp:coreProperties>
</file>