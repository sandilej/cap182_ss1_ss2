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S1" id="{6761D155-2D1B-60DF-91DE-0686FC529D7B}">
          <p14:sldIdLst>
            <p14:sldId id="256"/>
            <p14:sldId id="257"/>
            <p14:sldId id="258"/>
            <p14:sldId id="259"/>
          </p14:sldIdLst>
        </p14:section>
        <p14:section name="SS2" id="{B729B604-A54E-1209-981D-3F9E16177A06}">
          <p14:sldIdLst>
            <p14:sldId id="260"/>
            <p14:sldId id="261"/>
            <p14:sldId id="262"/>
          </p14:sldIdLst>
        </p14:section>
        <p14:section name="SS3" id="{8334AD6C-C484-19A8-D059-FCBA364322FD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Default-1" id="{6B560F18-626B-C318-0602-F99F36F27FBC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8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A1033"/>
                </a:solidFill>
                <a:latin typeface="+mn-lt"/>
              </a:defRPr>
            </a:pPr>
            <a:r>
              <a:rPr lang="en-ZA" sz="1800" b="0" i="0" u="none" strike="noStrike">
                <a:solidFill>
                  <a:srgbClr val="1A1033"/>
                </a:solidFill>
                <a:latin typeface="+mn-lt"/>
              </a:rPr>
              <a:t>Test set ROC-AUC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0B39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1A10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SS2: Telco proxy data</c:v>
                </c:pt>
                <c:pt idx="1">
                  <c:v>SS3: Real STADIOchoice data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0.84399999999999997</c:v>
                </c:pt>
                <c:pt idx="1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84-4AD2-8465-4D8CB45B26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F2EDF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0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266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3D24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862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3D24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8346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06908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EXHIBI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01952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4600" b="1" i="0">
                <a:solidFill>
                  <a:srgbClr val="FFFFFF"/>
                </a:solidFill>
                <a:latin typeface="Cambria"/>
              </a:rPr>
              <a:t>Predicting Streaming Churn
at STADIOchoice</a:t>
            </a:r>
            <a:endParaRPr lang="en-US" sz="40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30752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0" i="0">
                <a:solidFill>
                  <a:srgbClr val="FFFFFF"/>
                </a:solidFill>
                <a:latin typeface="Calibri"/>
              </a:rPr>
              <a:t>CAP182 Capstone · SS1 through SS3
Sandile Jali · 26304684</a:t>
            </a:r>
            <a:endParaRPr lang="en-US" sz="1800"/>
          </a:p>
        </p:txBody>
      </p:sp>
      <p:sp>
        <p:nvSpPr>
          <p:cNvPr id="4" name="Rectangle 3"/>
          <p:cNvSpPr/>
          <p:nvPr/>
        </p:nvSpPr>
        <p:spPr>
          <a:xfrm>
            <a:off x="731520" y="1581912"/>
            <a:ext cx="960120" cy="6400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4871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ZA" sz="4000" b="1" i="0">
                <a:solidFill>
                  <a:srgbClr val="FFFFFF"/>
                </a:solidFill>
                <a:latin typeface="Cambria"/>
              </a:rPr>
              <a:t>The Business Problem</a:t>
            </a:r>
            <a:endParaRPr lang="en-ZA" sz="36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6732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0" i="0">
                <a:solidFill>
                  <a:srgbClr val="FFFFFF"/>
                </a:solidFill>
                <a:latin typeface="Calibri"/>
              </a:rPr>
              <a:t>Why STADIOchoice needs to see churn coming before it happens</a:t>
            </a:r>
            <a:endParaRPr lang="en-US" sz="1600"/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5A5F"/>
                </a:solidFill>
                <a:latin typeface="Calibri"/>
              </a:rPr>
              <a:t>PART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84831"/>
            <a:ext cx="960120" cy="6400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000" b="1" i="0">
                <a:solidFill>
                  <a:srgbClr val="3D2475"/>
                </a:solidFill>
                <a:latin typeface="Cambria"/>
              </a:rPr>
              <a:t>A churn problem the company already knows it has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1901952" y="2148840"/>
            <a:ext cx="768096" cy="64008"/>
          </a:xfrm>
          <a:prstGeom prst="roundRect">
            <a:avLst>
              <a:gd name="adj" fmla="val 4615"/>
            </a:avLst>
          </a:prstGeom>
          <a:solidFill>
            <a:srgbClr val="FF5A5F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 txBox="1"/>
          <p:nvPr/>
        </p:nvSpPr>
        <p:spPr>
          <a:xfrm>
            <a:off x="548640" y="2350008"/>
            <a:ext cx="34747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6.5% → 9.2%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127248"/>
            <a:ext cx="3145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monthly churn, in two years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5710427" y="2148840"/>
            <a:ext cx="768096" cy="64008"/>
          </a:xfrm>
          <a:prstGeom prst="roundRect">
            <a:avLst>
              <a:gd name="adj" fmla="val 4615"/>
            </a:avLst>
          </a:prstGeom>
          <a:solidFill>
            <a:srgbClr val="FF5A5F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4357116" y="2350008"/>
            <a:ext cx="34747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R240 → R355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21707" y="3127248"/>
            <a:ext cx="3145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acquire one streaming subscriber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9518904" y="2148840"/>
            <a:ext cx="768096" cy="64008"/>
          </a:xfrm>
          <a:prstGeom prst="roundRect">
            <a:avLst>
              <a:gd name="adj" fmla="val 4615"/>
            </a:avLst>
          </a:prstGeom>
          <a:solidFill>
            <a:srgbClr val="00B39B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 txBox="1"/>
          <p:nvPr/>
        </p:nvSpPr>
        <p:spPr>
          <a:xfrm>
            <a:off x="8165592" y="2350008"/>
            <a:ext cx="34747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~R0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30183" y="3127248"/>
            <a:ext cx="3145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on current retention offers, sent to almost anyone who clicks cancel</a:t>
            </a:r>
            <a:endParaRPr lang="en-US" sz="1300"/>
          </a:p>
        </p:txBody>
      </p:sp>
      <p:sp>
        <p:nvSpPr>
          <p:cNvPr id="12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2252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600" b="0" i="0">
                <a:solidFill>
                  <a:srgbClr val="1A1033"/>
                </a:solidFill>
                <a:latin typeface="Calibri"/>
              </a:rPr>
              <a:t>Retention offers go out indiscriminately today, wasting spend on subscribers who would have stayed, while households who quietly drift away without ever clicking cancel are missed entirely.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36592"/>
            <a:ext cx="64008" cy="1051560"/>
          </a:xfrm>
          <a:prstGeom prst="rect">
            <a:avLst/>
          </a:prstGeom>
          <a:solidFill>
            <a:srgbClr val="3D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4663440"/>
            <a:ext cx="10561320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15873"/>
                </a:solidFill>
                <a:latin typeface="Calibri"/>
              </a:rPr>
              <a:t>This sits directly against STADIOchoice's own 2030 strategy:</a:t>
            </a:r>
          </a:p>
          <a:p>
            <a:pPr algn="l">
              <a:spcAft>
                <a:spcPts val="0"/>
              </a:spcAft>
            </a:pPr>
            <a:r>
              <a:rPr sz="2100" b="1" i="1">
                <a:solidFill>
                  <a:srgbClr val="3D2475"/>
                </a:solidFill>
                <a:latin typeface="Cambria"/>
              </a:rPr>
              <a:t>“win the streaming war on retention, not just sign-ups.”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000" b="1" i="0">
                <a:solidFill>
                  <a:srgbClr val="3D2475"/>
                </a:solidFill>
                <a:latin typeface="Cambria"/>
              </a:rPr>
              <a:t>Framing it as a data science problem</a:t>
            </a:r>
            <a:endParaRPr lang="en-US" sz="3000"/>
          </a:p>
        </p:txBody>
      </p:sp>
      <p:sp>
        <p:nvSpPr>
          <p:cNvPr id="3" name="TextBox 2"/>
          <p:cNvSpPr txBox="1"/>
          <p:nvPr/>
        </p:nvSpPr>
        <p:spPr>
          <a:xfrm>
            <a:off x="548640" y="1252728"/>
            <a:ext cx="1106424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D2475"/>
                </a:solidFill>
                <a:latin typeface="Cambria"/>
              </a:rPr>
              <a:t>Predict the probability of near-term cancellation for every household — using only information available before the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591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0B39B"/>
                </a:solidFill>
                <a:latin typeface="Calibri"/>
              </a:rPr>
              <a:t>01 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61488"/>
            <a:ext cx="315468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D2475"/>
                </a:solidFill>
                <a:latin typeface="Cambria"/>
              </a:rPr>
              <a:t>Behavioural, billing and support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11296"/>
            <a:ext cx="31546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625874"/>
                </a:solidFill>
                <a:latin typeface="Calibri"/>
              </a:rPr>
              <a:t>Information that exists before cancellation.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3672" y="23591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3D2475"/>
                </a:solidFill>
                <a:latin typeface="Calibri"/>
              </a:rPr>
              <a:t>02 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3672" y="2761488"/>
            <a:ext cx="315468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D2475"/>
                </a:solidFill>
                <a:latin typeface="Cambria"/>
              </a:rPr>
              <a:t>Supervised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3672" y="3511296"/>
            <a:ext cx="31546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625874"/>
                </a:solidFill>
                <a:latin typeface="Calibri"/>
              </a:rPr>
              <a:t>Historical cancellation outcomes provide the labels.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23591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5A5F"/>
                </a:solidFill>
                <a:latin typeface="Calibri"/>
              </a:rPr>
              <a:t>03 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8" y="2761488"/>
            <a:ext cx="315468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D2475"/>
                </a:solidFill>
                <a:latin typeface="Cambria"/>
              </a:rPr>
              <a:t>A ranked, actionable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3511296"/>
            <a:ext cx="31546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625874"/>
                </a:solidFill>
                <a:latin typeface="Calibri"/>
              </a:rPr>
              <a:t>The retention team can focus effort where it matters most.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9352" y="2350008"/>
            <a:ext cx="18288" cy="1874519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53527" y="2350008"/>
            <a:ext cx="18288" cy="1874519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727448"/>
            <a:ext cx="11064240" cy="18288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001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5A5F"/>
                </a:solidFill>
                <a:latin typeface="Calibri"/>
              </a:rPr>
              <a:t>SIX REQUESTED DATA 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04104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033"/>
                </a:solidFill>
                <a:latin typeface="Calibri"/>
              </a:rPr>
              <a:t>Subscription &amp; billing · Viewing logs · Cancellation &amp; retention · Customer support · Content catalogue · Search 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4871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ZA" sz="4000" b="1" i="0">
                <a:solidFill>
                  <a:srgbClr val="FFFFFF"/>
                </a:solidFill>
                <a:latin typeface="Cambria"/>
              </a:rPr>
              <a:t>Proving the Approach</a:t>
            </a:r>
            <a:endParaRPr lang="en-ZA" sz="36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6732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0" i="0">
                <a:solidFill>
                  <a:srgbClr val="FFFFFF"/>
                </a:solidFill>
                <a:latin typeface="Calibri"/>
              </a:rPr>
              <a:t>STADIOchoice's real data wasn't ready yet, so the method was proven on a public benchmark first</a:t>
            </a:r>
            <a:endParaRPr lang="en-US" sz="1600"/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5A5F"/>
                </a:solidFill>
                <a:latin typeface="Calibri"/>
              </a:rPr>
              <a:t>PART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84831"/>
            <a:ext cx="960120" cy="6400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000" b="1" i="0">
                <a:solidFill>
                  <a:srgbClr val="3D2475"/>
                </a:solidFill>
                <a:latin typeface="Cambria"/>
              </a:rPr>
              <a:t>A proof of viability, grounded in real literature</a:t>
            </a:r>
            <a:endParaRPr lang="en-US" sz="3000"/>
          </a:p>
        </p:txBody>
      </p:sp>
      <p:sp>
        <p:nvSpPr>
          <p:cNvPr id="3" name="TextBox 2"/>
          <p:cNvSpPr txBox="1"/>
          <p:nvPr/>
        </p:nvSpPr>
        <p:spPr>
          <a:xfrm>
            <a:off x="548640" y="1389888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 i="0">
                <a:solidFill>
                  <a:srgbClr val="00B39B"/>
                </a:solidFill>
                <a:latin typeface="Cambria"/>
              </a:rPr>
              <a:t>7,043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87168"/>
            <a:ext cx="320040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033"/>
                </a:solidFill>
                <a:latin typeface="Calibri"/>
              </a:rPr>
              <a:t>customers in the IBM Telco Customer Churn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38144"/>
            <a:ext cx="324612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625874"/>
                </a:solidFill>
                <a:latin typeface="Calibri"/>
              </a:rPr>
              <a:t>Used by two of the three academic papers reviewed, keeping the result comparable with published benchmarks.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041648" y="1417320"/>
            <a:ext cx="18288" cy="32461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07408" y="149961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3D2475"/>
                </a:solidFill>
                <a:latin typeface="Calibri"/>
              </a:rPr>
              <a:t>MODEL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1901952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3D2475"/>
                </a:solidFill>
                <a:latin typeface="Cambria"/>
              </a:rPr>
              <a:t>Logistic
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3054096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625874"/>
                </a:solidFill>
                <a:latin typeface="Calibri"/>
              </a:rPr>
              <a:t>Interpretable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149961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5A5F"/>
                </a:solidFill>
                <a:latin typeface="Calibri"/>
              </a:rPr>
              <a:t>MODEL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1901952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5A5F"/>
                </a:solidFill>
                <a:latin typeface="Cambria"/>
              </a:rPr>
              <a:t>XGBoost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3054096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625874"/>
                </a:solidFill>
                <a:latin typeface="Calibri"/>
              </a:rPr>
              <a:t>Gradient-boosted ensemble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3986784"/>
            <a:ext cx="6675120" cy="457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42976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3D2475"/>
                </a:solidFill>
                <a:latin typeface="Calibri"/>
              </a:rPr>
              <a:t>FAIR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4773168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1033"/>
                </a:solidFill>
                <a:latin typeface="Calibri"/>
              </a:rPr>
              <a:t>Same train/test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4773168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1033"/>
                </a:solidFill>
                <a:latin typeface="Calibri"/>
              </a:rPr>
              <a:t>Same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773168"/>
            <a:ext cx="230428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1033"/>
                </a:solidFill>
                <a:latin typeface="Calibri"/>
              </a:rPr>
              <a:t>Both models tested head to head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000" b="1" i="0">
                <a:solidFill>
                  <a:srgbClr val="3D2475"/>
                </a:solidFill>
                <a:latin typeface="Cambria"/>
              </a:rPr>
              <a:t>XGBoost wins, and it's not close</a:t>
            </a:r>
            <a:endParaRPr lang="en-US" sz="3000"/>
          </a:p>
        </p:txBody>
      </p:sp>
      <p:pic>
        <p:nvPicPr>
          <p:cNvPr id="3" name="Image 0" descr="../../../../../Desktop/CAP182_SS1/experimental_results/roc_curve_comparis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8368" y="1426464"/>
            <a:ext cx="4709160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97880" y="14447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ZA" sz="1400" b="1" i="0">
                <a:solidFill>
                  <a:srgbClr val="3D2475"/>
                </a:solidFill>
                <a:latin typeface="Calibri"/>
              </a:rPr>
              <a:t>TEST-SET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1874519"/>
            <a:ext cx="26517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625874"/>
                </a:solidFill>
                <a:latin typeface="Calibri"/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2185415"/>
            <a:ext cx="539496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5A5F"/>
                </a:solidFill>
                <a:latin typeface="Cambria"/>
              </a:rPr>
              <a:t>0.753  vs  0.734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916935"/>
            <a:ext cx="26517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625874"/>
                </a:solidFill>
                <a:latin typeface="Calibri"/>
              </a:rPr>
              <a:t>ROC-AUC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227831"/>
            <a:ext cx="539496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0B39B"/>
                </a:solidFill>
                <a:latin typeface="Cambria"/>
              </a:rPr>
              <a:t>0.844  vs  0.842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3959351"/>
            <a:ext cx="26517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625874"/>
                </a:solidFill>
                <a:latin typeface="Calibri"/>
              </a:rPr>
              <a:t>McNEMAR'S EXACT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4270247"/>
            <a:ext cx="539496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5A5F"/>
                </a:solidFill>
                <a:latin typeface="Cambria"/>
              </a:rPr>
              <a:t>p = 0.0108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4983480"/>
            <a:ext cx="5303520" cy="36576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97880" y="521208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1A1033"/>
                </a:solidFill>
                <a:latin typeface="Calibri"/>
              </a:rPr>
              <a:t>The difference is statistically significant — not just a small numeric edge.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5751576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D2475"/>
                </a:solidFill>
                <a:latin typeface="Calibri"/>
              </a:rPr>
              <a:t>Decision: carry XGBoost forward into SS3.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4871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ZA" sz="4000" b="1" i="0">
                <a:solidFill>
                  <a:srgbClr val="FFFFFF"/>
                </a:solidFill>
                <a:latin typeface="Cambria"/>
              </a:rPr>
              <a:t>The Real Data</a:t>
            </a:r>
            <a:endParaRPr lang="en-ZA" sz="36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6732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0" i="0">
                <a:solidFill>
                  <a:srgbClr val="FFFFFF"/>
                </a:solidFill>
                <a:latin typeface="Calibri"/>
              </a:rPr>
              <a:t>Applying the same method to STADIOchoice's own 4,485 households</a:t>
            </a:r>
            <a:endParaRPr lang="en-US" sz="1600"/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5A5F"/>
                </a:solidFill>
                <a:latin typeface="Calibri"/>
              </a:rPr>
              <a:t>PART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84831"/>
            <a:ext cx="960120" cy="6400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ZA" sz="3000" b="1" i="0">
                <a:solidFill>
                  <a:srgbClr val="3D2475"/>
                </a:solidFill>
                <a:latin typeface="Cambria"/>
              </a:rPr>
              <a:t>Real operational data, real mess</a:t>
            </a:r>
            <a:endParaRPr lang="en-ZA" sz="3000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48640" y="122529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500" b="0" i="1">
                <a:solidFill>
                  <a:srgbClr val="625874"/>
                </a:solidFill>
                <a:latin typeface="Calibri"/>
              </a:rPr>
              <a:t>Every figure was found by profiling the data directly — then corrected with a documented reason, not accepted as generic 'messy data'.</a:t>
            </a:r>
          </a:p>
        </p:txBody>
      </p:sp>
      <p:sp>
        <p:nvSpPr>
          <p:cNvPr id="4" name="Rectangle 3"/>
          <p:cNvSpPr>
            <a:spLocks/>
          </p:cNvSpPr>
          <p:nvPr/>
        </p:nvSpPr>
        <p:spPr>
          <a:xfrm>
            <a:off x="548640" y="2084831"/>
            <a:ext cx="685800" cy="54864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Box 4"/>
          <p:cNvSpPr txBox="1"/>
          <p:nvPr/>
        </p:nvSpPr>
        <p:spPr>
          <a:xfrm>
            <a:off x="548640" y="2322576"/>
            <a:ext cx="2395728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ZA" sz="4200" b="1" i="0">
                <a:solidFill>
                  <a:srgbClr val="00B39B"/>
                </a:solidFill>
                <a:latin typeface="Cambria"/>
              </a:rPr>
              <a:t>13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48640" y="3182112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ZA" sz="1500" b="1" i="0">
                <a:solidFill>
                  <a:srgbClr val="1A1033"/>
                </a:solidFill>
                <a:latin typeface="Calibri"/>
              </a:rPr>
              <a:t>exact duplicate household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05072"/>
            <a:ext cx="2395728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ZA" sz="1400" b="0" i="0">
                <a:solidFill>
                  <a:srgbClr val="625874"/>
                </a:solidFill>
                <a:latin typeface="Calibri"/>
              </a:rPr>
              <a:t>dropped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3364992" y="2084831"/>
            <a:ext cx="685800" cy="54864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3364992" y="2322576"/>
            <a:ext cx="2395728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ZA" sz="4200" b="1" i="0">
                <a:solidFill>
                  <a:srgbClr val="00B39B"/>
                </a:solidFill>
                <a:latin typeface="Cambria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3182112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500" b="1" i="0">
                <a:solidFill>
                  <a:srgbClr val="1A1033"/>
                </a:solidFill>
                <a:latin typeface="Calibri"/>
              </a:rPr>
              <a:t>spellings of one plan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4005072"/>
            <a:ext cx="2395728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25874"/>
                </a:solidFill>
                <a:latin typeface="Calibri"/>
              </a:rPr>
              <a:t>collapsed to 3 clean categories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2084831"/>
            <a:ext cx="6858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extBox 12"/>
          <p:cNvSpPr txBox="1"/>
          <p:nvPr/>
        </p:nvSpPr>
        <p:spPr>
          <a:xfrm>
            <a:off x="6181344" y="2322576"/>
            <a:ext cx="2395728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ZA" sz="4200" b="1" i="0">
                <a:solidFill>
                  <a:srgbClr val="FF5A5F"/>
                </a:solidFill>
                <a:latin typeface="Cambria"/>
              </a:rPr>
              <a:t>465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3182112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ZA" sz="1500" b="1" i="0">
                <a:solidFill>
                  <a:srgbClr val="1A1033"/>
                </a:solidFill>
                <a:latin typeface="Calibri"/>
              </a:rPr>
              <a:t>mixed-format viewing timestamps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4005072"/>
            <a:ext cx="2395728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25874"/>
                </a:solidFill>
                <a:latin typeface="Calibri"/>
              </a:rPr>
              <a:t>parsed with a cascading, format-aware parser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7696" y="2084831"/>
            <a:ext cx="685800" cy="54864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97696" y="2322576"/>
            <a:ext cx="2395728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 i="0">
                <a:solidFill>
                  <a:srgbClr val="00B39B"/>
                </a:solidFill>
                <a:latin typeface="Cambria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3182112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libri"/>
              </a:rPr>
              <a:t>events after the extract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4005072"/>
            <a:ext cx="2395728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25874"/>
                </a:solidFill>
                <a:latin typeface="Calibri"/>
              </a:rPr>
              <a:t>found physically impossible and dropped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72968" y="2084831"/>
            <a:ext cx="18288" cy="269748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89320" y="2084831"/>
            <a:ext cx="18288" cy="269748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05672" y="2084831"/>
            <a:ext cx="18288" cy="269748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5257800"/>
            <a:ext cx="64008" cy="749808"/>
          </a:xfrm>
          <a:prstGeom prst="rect">
            <a:avLst/>
          </a:prstGeom>
          <a:solidFill>
            <a:srgbClr val="3D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303520"/>
            <a:ext cx="1056132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475"/>
                </a:solidFill>
                <a:latin typeface="Cambria"/>
              </a:rPr>
              <a:t>The cleaning logic is auditable: every removal, collapse and parse has an explicit reason.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000" b="1" i="0">
                <a:solidFill>
                  <a:srgbClr val="3D2475"/>
                </a:solidFill>
                <a:latin typeface="Cambria"/>
              </a:rPr>
              <a:t>Building honest features, not leaky ones</a:t>
            </a:r>
            <a:endParaRPr lang="en-US" sz="3000"/>
          </a:p>
        </p:txBody>
      </p:sp>
      <p:sp>
        <p:nvSpPr>
          <p:cNvPr id="3" name="TextBox 2"/>
          <p:cNvSpPr txBox="1"/>
          <p:nvPr/>
        </p:nvSpPr>
        <p:spPr>
          <a:xfrm>
            <a:off x="548640" y="13350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5A5F"/>
                </a:solidFill>
                <a:latin typeface="Calibri"/>
              </a:rPr>
              <a:t>EXCLUDED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10512"/>
            <a:ext cx="4754880" cy="1353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3D2475"/>
                </a:solidFill>
                <a:latin typeface="Cambria"/>
              </a:rPr>
              <a:t>churn_date
tenure_months
entire cancellation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4800600" cy="1298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033"/>
                </a:solidFill>
                <a:latin typeface="Calibri"/>
              </a:rPr>
              <a:t>These fields describe events after a household has already decided to leave. Including them would teach the model to recognise its own label — not to predict churn.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5A5F"/>
                </a:solidFill>
                <a:latin typeface="Calibri"/>
              </a:rPr>
              <a:t>LABEL LEAKAGE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5248656"/>
            <a:ext cx="2606040" cy="457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0" y="1344168"/>
            <a:ext cx="18288" cy="452628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53328" y="13350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0B39B"/>
                </a:solidFill>
                <a:latin typeface="Calibri"/>
              </a:rPr>
              <a:t>BUILT FROM REAL BEHAVIOUR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86537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3D2475"/>
                </a:solidFill>
                <a:latin typeface="Calibri"/>
              </a:rPr>
              <a:t>VIEWING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847088"/>
            <a:ext cx="40690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033"/>
                </a:solidFill>
                <a:latin typeface="Calibri"/>
              </a:rPr>
              <a:t>Recency, watch time and sports-content exposure — a named churn trigger in the client briefing.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2715768"/>
            <a:ext cx="5504688" cy="18288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53328" y="319125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3D2475"/>
                </a:solidFill>
                <a:latin typeface="Calibri"/>
              </a:rPr>
              <a:t>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172968"/>
            <a:ext cx="40690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033"/>
                </a:solidFill>
                <a:latin typeface="Calibri"/>
              </a:rPr>
              <a:t>Contact volume plus unresolved and escalated outcomes.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8" y="4041648"/>
            <a:ext cx="5504688" cy="18288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53328" y="45171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3D2475"/>
                </a:solidFill>
                <a:latin typeface="Calibri"/>
              </a:rP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498848"/>
            <a:ext cx="40690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033"/>
                </a:solidFill>
                <a:latin typeface="Calibri"/>
              </a:rPr>
              <a:t>Activity and zero-result rate — the client’s documented signal for unmet demand.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000" b="1" i="0">
                <a:solidFill>
                  <a:srgbClr val="3D2475"/>
                </a:solidFill>
                <a:latin typeface="Cambria"/>
              </a:rPr>
              <a:t>A model that holds up on real households</a:t>
            </a:r>
            <a:endParaRPr lang="en-US" sz="3000"/>
          </a:p>
        </p:txBody>
      </p:sp>
      <p:pic>
        <p:nvPicPr>
          <p:cNvPr id="4" name="Image 0" descr="../../../../../Desktop/CAP182_SS1/experimental_results/ss3_part_b_result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8368" y="2395728"/>
            <a:ext cx="10881360" cy="3401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26187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625874"/>
                </a:solidFill>
                <a:latin typeface="Calibri"/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63624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D2475"/>
                </a:solidFill>
                <a:latin typeface="Cambria"/>
              </a:rPr>
              <a:t>0.858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0008" y="126187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625874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1563624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0B39B"/>
                </a:solidFill>
                <a:latin typeface="Cambria"/>
              </a:rPr>
              <a:t>0.906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26187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625874"/>
                </a:solidFill>
                <a:latin typeface="Calibri"/>
              </a:rPr>
              <a:t>ROC-AUC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1563624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0B39B"/>
                </a:solidFill>
                <a:latin typeface="Cambria"/>
              </a:rPr>
              <a:t>0.950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280160"/>
            <a:ext cx="45720" cy="82296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53328" y="1261872"/>
            <a:ext cx="530352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libri"/>
              </a:rPr>
              <a:t>Days since last viewing is the strongest predictor — a signal the retention team can act on and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9618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625874"/>
                </a:solidFill>
                <a:latin typeface="Calibri"/>
              </a:rPr>
              <a:t>Confusion matrix · ROC curve · Feature importance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000" b="1" i="0">
                <a:solidFill>
                  <a:srgbClr val="3D2475"/>
                </a:solidFill>
                <a:latin typeface="Cambria"/>
              </a:rPr>
              <a:t>Real behavioural data beats the proxy benchmark</a:t>
            </a:r>
            <a:endParaRPr lang="en-US" sz="3000"/>
          </a:p>
        </p:txBody>
      </p:sp>
      <p:graphicFrame>
        <p:nvGraphicFramePr>
          <p:cNvPr id="3" name="Chart 0" descr="Chart"/>
          <p:cNvGraphicFramePr/>
          <p:nvPr>
            <p:extLst>
              <p:ext uri="{D42A27DB-BD31-4B8C-83A1-F6EECF244321}">
                <p14:modId xmlns:p14="http://schemas.microsoft.com/office/powerpoint/2010/main" val="2717219319"/>
              </p:ext>
            </p:extLst>
          </p:nvPr>
        </p:nvGraphicFramePr>
        <p:xfrm>
          <a:off x="960120" y="1572768"/>
          <a:ext cx="102870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033"/>
                </a:solidFill>
                <a:latin typeface="Calibri"/>
              </a:rPr>
              <a:t>The real-data model reaches 0.950 ROC-AUC, compared with 0.844 on the proxy benchmark.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15391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25874"/>
                </a:solidFill>
                <a:latin typeface="Calibri"/>
              </a:rPr>
              <a:t>SS2: telco proxy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7888" y="615391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3D2475"/>
                </a:solidFill>
                <a:latin typeface="Calibri"/>
              </a:rPr>
              <a:t>SS3: real STADIOchoice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000" b="1" i="0">
                <a:solidFill>
                  <a:srgbClr val="3D2475"/>
                </a:solidFill>
                <a:latin typeface="Cambria"/>
              </a:rPr>
              <a:t>What STADIOchoice should do next</a:t>
            </a:r>
            <a:endParaRPr lang="en-US" sz="3000"/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239572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0B39B"/>
                </a:solidFill>
                <a:latin typeface="Cambria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67128"/>
            <a:ext cx="621792" cy="4572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450592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D2475"/>
                </a:solidFill>
                <a:latin typeface="Calibri"/>
              </a:rPr>
              <a:t>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81528"/>
            <a:ext cx="2395728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033"/>
                </a:solidFill>
                <a:latin typeface="Calibri"/>
              </a:rPr>
              <a:t>Run against a held-out group and track real retention outcomes — not only predicted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5848" y="1444752"/>
            <a:ext cx="239572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3D2475"/>
                </a:solidFill>
                <a:latin typeface="Cambria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5848" y="2167128"/>
            <a:ext cx="621792" cy="45720"/>
          </a:xfrm>
          <a:prstGeom prst="rect">
            <a:avLst/>
          </a:prstGeom>
          <a:solidFill>
            <a:srgbClr val="3D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55848" y="2450592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D2475"/>
                </a:solidFill>
                <a:latin typeface="Calibri"/>
              </a:rPr>
              <a:t>CALIBRATE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3081528"/>
            <a:ext cx="2395728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033"/>
                </a:solidFill>
                <a:latin typeface="Calibri"/>
              </a:rPr>
              <a:t>Set the risk threshold to actual review capacity; the business decides how far down the ranked list to 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3056" y="1444752"/>
            <a:ext cx="239572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5A5F"/>
                </a:solidFill>
                <a:latin typeface="Cambria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2167128"/>
            <a:ext cx="621792" cy="457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63056" y="2450592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D2475"/>
                </a:solidFill>
                <a:latin typeface="Calibri"/>
              </a:rPr>
              <a:t>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3081528"/>
            <a:ext cx="2395728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033"/>
                </a:solidFill>
                <a:latin typeface="Calibri"/>
              </a:rPr>
              <a:t>Give the retention team a reason alongside every flagged household, using feature importance.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0264" y="1444752"/>
            <a:ext cx="239572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0B39B"/>
                </a:solidFill>
                <a:latin typeface="Cambria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70264" y="2167128"/>
            <a:ext cx="621792" cy="45720"/>
          </a:xfrm>
          <a:prstGeom prst="rect">
            <a:avLst/>
          </a:prstGeom>
          <a:solidFill>
            <a:srgbClr val="00B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70264" y="2450592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D2475"/>
                </a:solidFill>
                <a:latin typeface="Calibri"/>
              </a:rPr>
              <a:t>RE-TRAIN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0264" y="3081528"/>
            <a:ext cx="2395728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033"/>
                </a:solidFill>
                <a:latin typeface="Calibri"/>
              </a:rPr>
              <a:t>Refresh on a rolling basis as behaviour and offers change; a once-trained model will drift.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2968" y="1444752"/>
            <a:ext cx="18288" cy="406908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80176" y="1444752"/>
            <a:ext cx="18288" cy="406908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87384" y="1444752"/>
            <a:ext cx="18288" cy="406908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74243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475"/>
                </a:solidFill>
                <a:latin typeface="Cambria"/>
              </a:rPr>
              <a:t>Start controlled, make risk operational, keep every decision explainable, and plan for drift.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000" b="1" i="0">
                <a:solidFill>
                  <a:srgbClr val="3D2475"/>
                </a:solidFill>
                <a:latin typeface="Cambria"/>
              </a:rPr>
              <a:t>Being honest about the limits</a:t>
            </a:r>
            <a:endParaRPr lang="en-US" sz="3000"/>
          </a:p>
        </p:txBody>
      </p:sp>
      <p:sp>
        <p:nvSpPr>
          <p:cNvPr id="3" name="TextBox 2"/>
          <p:cNvSpPr txBox="1"/>
          <p:nvPr/>
        </p:nvSpPr>
        <p:spPr>
          <a:xfrm>
            <a:off x="548640" y="1353312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5A5F"/>
                </a:solidFill>
                <a:latin typeface="Cambr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" y="1380744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3D2475"/>
                </a:solidFill>
                <a:latin typeface="Calibri"/>
              </a:rPr>
              <a:t>OVERFITTING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78224" y="1344168"/>
            <a:ext cx="745236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033"/>
                </a:solidFill>
                <a:latin typeface="Calibri"/>
              </a:rPr>
              <a:t>Precision drops from 0.70 to 0.58 between train and test on a 26-feature model trained on ~3,100 households. Monitor it; do not hide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78608"/>
            <a:ext cx="11064240" cy="18288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889504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D2475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916936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3D2475"/>
                </a:solidFill>
                <a:latin typeface="Calibri"/>
              </a:rPr>
              <a:t>TEMPORAL VALIDITY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8224" y="2880360"/>
            <a:ext cx="745236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033"/>
                </a:solidFill>
                <a:latin typeface="Calibri"/>
              </a:rPr>
              <a:t>The extract is one historical snapshot. A live system must be validated against genuinely new, unseen time periods.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11064240" cy="18288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425696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0B39B"/>
                </a:solidFill>
                <a:latin typeface="Cambr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445312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3D2475"/>
                </a:solidFill>
                <a:latin typeface="Calibri"/>
              </a:rPr>
              <a:t>TUNING NOT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8224" y="4416552"/>
            <a:ext cx="745236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033"/>
                </a:solidFill>
                <a:latin typeface="Calibri"/>
              </a:rPr>
              <a:t>Hyperparameters stayed aligned with SS2 for comparability. A dedicated tuning pass on this data is the next step — and has not yet been done.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989320"/>
            <a:ext cx="11064240" cy="457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ZA" sz="4600" b="1" i="0">
                <a:solidFill>
                  <a:srgbClr val="FFFFFF"/>
                </a:solidFill>
                <a:latin typeface="Cambria"/>
              </a:rPr>
              <a:t>Thank You</a:t>
            </a:r>
            <a:endParaRPr lang="en-ZA" sz="40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39"/>
            <a:ext cx="7955279" cy="56692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it-IT" sz="1800" b="0" i="0">
                <a:solidFill>
                  <a:srgbClr val="FFFFFF"/>
                </a:solidFill>
                <a:latin typeface="Calibri"/>
              </a:rPr>
              <a:t>Sandile Jali · 26304684 · CAP182 Capstone</a:t>
            </a:r>
            <a:endParaRPr lang="it-IT" sz="1800"/>
          </a:p>
        </p:txBody>
      </p:sp>
      <p:sp>
        <p:nvSpPr>
          <p:cNvPr id="4" name="Rectangle 3"/>
          <p:cNvSpPr/>
          <p:nvPr/>
        </p:nvSpPr>
        <p:spPr>
          <a:xfrm>
            <a:off x="731520" y="3401568"/>
            <a:ext cx="960120" cy="6400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DIOchoice Churn">
  <a:themeElements>
    <a:clrScheme name="STADIOchoice Churn">
      <a:dk1>
        <a:srgbClr val="1A1033"/>
      </a:dk1>
      <a:lt1>
        <a:srgbClr val="FFFFFF"/>
      </a:lt1>
      <a:dk2>
        <a:srgbClr val="3D2470"/>
      </a:dk2>
      <a:lt2>
        <a:srgbClr val="F2EDFA"/>
      </a:lt2>
      <a:accent1>
        <a:srgbClr val="FF5A5F"/>
      </a:accent1>
      <a:accent2>
        <a:srgbClr val="00B39B"/>
      </a:accent2>
      <a:accent3>
        <a:srgbClr val="3D2470"/>
      </a:accent3>
      <a:accent4>
        <a:srgbClr val="FF5A5F"/>
      </a:accent4>
      <a:accent5>
        <a:srgbClr val="00B39B"/>
      </a:accent5>
      <a:accent6>
        <a:srgbClr val="1A1033"/>
      </a:accent6>
      <a:hlink>
        <a:srgbClr val="FF5A5F"/>
      </a:hlink>
      <a:folHlink>
        <a:srgbClr val="00B39B"/>
      </a:folHlink>
    </a:clrScheme>
    <a:fontScheme name="STADIOchoice Chur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</Words>
  <Application>Microsoft Office PowerPoint</Application>
  <PresentationFormat>Widescreen</PresentationFormat>
  <Paragraphs>140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STADIOchoice Churn</vt:lpstr>
      <vt:lpstr>Predicting Streaming Churn
at STADIOchoice</vt:lpstr>
      <vt:lpstr>The Business Problem</vt:lpstr>
      <vt:lpstr>A churn problem the company already knows it has</vt:lpstr>
      <vt:lpstr>Framing it as a data science problem</vt:lpstr>
      <vt:lpstr>Proving the Approach</vt:lpstr>
      <vt:lpstr>A proof of viability, grounded in real literature</vt:lpstr>
      <vt:lpstr>XGBoost wins, and it's not close</vt:lpstr>
      <vt:lpstr>The Real Data</vt:lpstr>
      <vt:lpstr>Real operational data, real mess</vt:lpstr>
      <vt:lpstr>Building honest features, not leaky ones</vt:lpstr>
      <vt:lpstr>A model that holds up on real households</vt:lpstr>
      <vt:lpstr>Real behavioural data beats the proxy benchmark</vt:lpstr>
      <vt:lpstr>What STADIOchoice should do next</vt:lpstr>
      <vt:lpstr>Being honest about the limits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Sandile Jali</cp:lastModifiedBy>
  <cp:revision>2</cp:revision>
  <dcterms:created xsi:type="dcterms:W3CDTF">2026-10-19T07:19:32Z</dcterms:created>
  <dcterms:modified xsi:type="dcterms:W3CDTF">2026-10-26T16:29:04Z</dcterms:modified>
</cp:coreProperties>
</file>